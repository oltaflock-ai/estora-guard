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12161520" cy="10973"/>
          </a:xfrm>
          <a:prstGeom prst="rect">
            <a:avLst/>
          </a:prstGeom>
          <a:solidFill>
            <a:srgbClr val="DEDAD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64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Estora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972800" y="192024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FEDE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0" y="192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 /  REAL ESTATE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Estora Guard.</a:t>
            </a:r>
            <a:endParaRPr lang="en-US" sz="78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660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for real estate that won't blow up your deal.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— and a live demo — for the modern real estate agent.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5303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540410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5285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55448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434840" y="50292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5303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540410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5285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34924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days left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229600" y="50292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503920" y="5303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EDE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540410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5285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144000" y="5532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147 logged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BAB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 STANDARD AGREEMENT FOR THE SALE OF REAL ESTATE  ·  DEMO BUILD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contract is a 30-page minefield.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agents who close more deals are the ones who catch the one clause everyone else missed.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1691640" cy="292608"/>
          </a:xfrm>
          <a:prstGeom prst="roundRect">
            <a:avLst>
              <a:gd name="adj" fmla="val 56250"/>
            </a:avLst>
          </a:prstGeom>
          <a:solidFill>
            <a:srgbClr val="FFFB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8986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waste hours on paperwork.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inspection window. Chasing the mortgage contingency. Re-reading the addendum at 11pm before the deadline.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5394960"/>
            <a:ext cx="2971800" cy="7315"/>
          </a:xfrm>
          <a:prstGeom prst="rect">
            <a:avLst/>
          </a:prstGeom>
          <a:solidFill>
            <a:srgbClr val="DEDAD2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87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 hrs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0120" y="57332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deal on contract review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26280" y="260604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2926080"/>
            <a:ext cx="1691640" cy="292608"/>
          </a:xfrm>
          <a:prstGeom prst="roundRect">
            <a:avLst>
              <a:gd name="adj" fmla="val 56250"/>
            </a:avLst>
          </a:pr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RISK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89864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4632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missed clause = a dead deal.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846320" y="43891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5-day inspection window instead of 10. A missing financing addendum. Buyers walk. Commissions evaporate. Lawyers get loud.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46320" y="5394960"/>
            <a:ext cx="2971800" cy="7315"/>
          </a:xfrm>
          <a:prstGeom prst="rect">
            <a:avLst/>
          </a:prstGeom>
          <a:solidFill>
            <a:srgbClr val="DEDAD2"/>
          </a:solidFill>
          <a:ln/>
        </p:spPr>
      </p:sp>
      <p:sp>
        <p:nvSpPr>
          <p:cNvPr id="21" name="Text 17"/>
          <p:cNvSpPr/>
          <p:nvPr/>
        </p:nvSpPr>
        <p:spPr>
          <a:xfrm>
            <a:off x="484632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$18K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846320" y="57332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commission lost on a fall-through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8412480" y="260604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732520" y="2926080"/>
            <a:ext cx="1691640" cy="292608"/>
          </a:xfrm>
          <a:prstGeom prst="roundRect">
            <a:avLst>
              <a:gd name="adj" fmla="val 56250"/>
            </a:avLst>
          </a:prstGeom>
          <a:solidFill>
            <a:srgbClr val="EFF6FF"/>
          </a:solidFill>
          <a:ln/>
        </p:spPr>
      </p:sp>
      <p:sp>
        <p:nvSpPr>
          <p:cNvPr id="25" name="Text 21"/>
          <p:cNvSpPr/>
          <p:nvPr/>
        </p:nvSpPr>
        <p:spPr>
          <a:xfrm>
            <a:off x="8732520" y="29260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898648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732520" y="3474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ChatGPT can't help you here.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732520" y="438912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hallucinates dates. It leaks PII. It can't prove what it told you. The state board does not accept "the AI said so."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732520" y="5394960"/>
            <a:ext cx="2971800" cy="7315"/>
          </a:xfrm>
          <a:prstGeom prst="rect">
            <a:avLst/>
          </a:prstGeom>
          <a:solidFill>
            <a:srgbClr val="DEDAD2"/>
          </a:solidFill>
          <a:ln/>
        </p:spPr>
      </p:sp>
      <p:sp>
        <p:nvSpPr>
          <p:cNvPr id="30" name="Text 25"/>
          <p:cNvSpPr/>
          <p:nvPr/>
        </p:nvSpPr>
        <p:spPr>
          <a:xfrm>
            <a:off x="8732520" y="5440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8732520" y="57332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from a generic chatbot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everywhere. None of it is safe enough for a $750K deal.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88920"/>
            <a:ext cx="1554480" cy="292608"/>
          </a:xfrm>
          <a:prstGeom prst="roundRect">
            <a:avLst>
              <a:gd name="adj" fmla="val 56250"/>
            </a:avLst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7614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just became possible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can read a 40-page PA-ASR contract and find the buried inspection window in seconds.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talk to a deal in plain English: "summarize this offer for my seller."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audit pressure on real estate brokers is rising — every action needs a paper trail.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246888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EFEDE8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788920"/>
            <a:ext cx="1371600" cy="292608"/>
          </a:xfrm>
          <a:prstGeom prst="roundRect">
            <a:avLst>
              <a:gd name="adj" fmla="val 56250"/>
            </a:avLst>
          </a:prstGeom>
          <a:solidFill>
            <a:srgbClr val="FE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27614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still missing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46520" y="39319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knows what it is and isn't allowed to do for a buyer's agent vs. a listing agent vs. an attorney.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for every AI action — what it read, what it answered, and why.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guardrails: it cannot move escrow, leak SSNs, or be tricked by a prompt injection in a PDF.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Estora Guard.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co-pilot for your transactions, wrapped in a security layer designed for real estate.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33832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F0DD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20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60120" y="4892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contract, summarizes the deal, surfaces risks, and drafts your next actions — grounded in your transaction, not the open internet.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26280" y="2743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33832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F0DDB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5204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Firewall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46320" y="4892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checked against a role-aware policy. Some skills run automatically. Some require your approval. Some are simply never allowed.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412480" y="27432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73252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732520" y="3383280"/>
            <a:ext cx="777240" cy="777240"/>
          </a:xfrm>
          <a:prstGeom prst="roundRect">
            <a:avLst>
              <a:gd name="adj" fmla="val 17647"/>
            </a:avLst>
          </a:prstGeom>
          <a:solidFill>
            <a:srgbClr val="F0DDB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52044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32520" y="4297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Receipts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732520" y="48920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question, every answer, every denied attempt is logged to an append-only trail. If your broker, your client, or the state asks — you have the answer.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PDF to closed deal — with a guard rail at every step.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71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204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PA-ASR PDF. That's it.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3474720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26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154680" y="26060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9718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54680" y="35204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154680" y="3977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 → clean structured text.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74720"/>
            <a:ext cx="164592" cy="16459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212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440680" y="26060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97180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35204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5440680" y="3977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pulls fields, dates, parties.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060" y="3474720"/>
            <a:ext cx="164592" cy="16459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98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7726680" y="26060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971800"/>
            <a:ext cx="502920" cy="5029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726680" y="35204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</a:t>
            </a:r>
            <a:endParaRPr lang="en-US" sz="2000" dirty="0"/>
          </a:p>
        </p:txBody>
      </p:sp>
      <p:sp>
        <p:nvSpPr>
          <p:cNvPr id="26" name="Text 17"/>
          <p:cNvSpPr/>
          <p:nvPr/>
        </p:nvSpPr>
        <p:spPr>
          <a:xfrm>
            <a:off x="7726680" y="3977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short windows, missing clauses.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4060" y="3474720"/>
            <a:ext cx="164592" cy="16459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784080" y="237744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10012680" y="260604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680" y="2971800"/>
            <a:ext cx="502920" cy="5029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012680" y="352044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2000" dirty="0"/>
          </a:p>
        </p:txBody>
      </p:sp>
      <p:sp>
        <p:nvSpPr>
          <p:cNvPr id="32" name="Text 21"/>
          <p:cNvSpPr/>
          <p:nvPr/>
        </p:nvSpPr>
        <p:spPr>
          <a:xfrm>
            <a:off x="10012680" y="3977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tasks, health, agent.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40080" y="50749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FEDE8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914400" y="5285232"/>
            <a:ext cx="1508760" cy="292608"/>
          </a:xfrm>
          <a:prstGeom prst="roundRect">
            <a:avLst>
              <a:gd name="adj" fmla="val 56250"/>
            </a:avLst>
          </a:prstGeom>
          <a:solidFill>
            <a:srgbClr val="F0FDF4"/>
          </a:solidFill>
          <a:ln/>
        </p:spPr>
      </p:sp>
      <p:sp>
        <p:nvSpPr>
          <p:cNvPr id="35" name="Text 24"/>
          <p:cNvSpPr/>
          <p:nvPr/>
        </p:nvSpPr>
        <p:spPr>
          <a:xfrm>
            <a:off x="914400" y="52852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ACTIVE</a:t>
            </a:r>
            <a:endParaRPr lang="en-US" sz="9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6040" y="5248656"/>
            <a:ext cx="384048" cy="38404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108960" y="5212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Guard layer runs underneath every step.</a:t>
            </a:r>
            <a:endParaRPr lang="en-US" sz="1800" dirty="0"/>
          </a:p>
        </p:txBody>
      </p:sp>
      <p:sp>
        <p:nvSpPr>
          <p:cNvPr id="38" name="Text 26"/>
          <p:cNvSpPr/>
          <p:nvPr/>
        </p:nvSpPr>
        <p:spPr>
          <a:xfrm>
            <a:off x="914400" y="57150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660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Role-aware policy   ·   Append-only receipts   ·   Hard-deny rules for escrow, PII, and prompt injection.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40680" y="1554480"/>
            <a:ext cx="1280160" cy="1280160"/>
          </a:xfrm>
          <a:prstGeom prst="ellipse">
            <a:avLst/>
          </a:prstGeom>
          <a:solidFill>
            <a:srgbClr val="C9973A"/>
          </a:solidFill>
          <a:ln/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38528"/>
            <a:ext cx="41148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0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stop talking and go break it on purpose.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47091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FEDE8"/>
          </a:solidFill>
          <a:ln w="6350">
            <a:solidFill>
              <a:srgbClr val="DEDA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24712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PA-ASR PDF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47091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FEDE8"/>
          </a:solidFill>
          <a:ln w="6350">
            <a:solidFill>
              <a:srgbClr val="DEDA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58184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87952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+ risk flags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27064" y="47091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FEDE8"/>
          </a:solidFill>
          <a:ln w="6350">
            <a:solidFill>
              <a:srgbClr val="DEDA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1656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21424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a question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60536" y="470916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EFEDE8"/>
          </a:solidFill>
          <a:ln w="6350">
            <a:solidFill>
              <a:srgbClr val="DEDA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5128" y="47091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454896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red-team console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660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to the app — we'll come back to slide 7.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just saw, in one picture.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2011680" cy="310896"/>
          </a:xfrm>
          <a:prstGeom prst="roundRect">
            <a:avLst>
              <a:gd name="adj" fmla="val 52941"/>
            </a:avLst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6243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skills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deal. List the risks. Show me the timeline. These run instantly and log a receipt.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26280" y="23317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651760"/>
            <a:ext cx="2011680" cy="310896"/>
          </a:xfrm>
          <a:prstGeom prst="roundRect">
            <a:avLst>
              <a:gd name="adj" fmla="val 52941"/>
            </a:avLst>
          </a:prstGeom>
          <a:solidFill>
            <a:srgbClr val="FFFBEB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REQUIRED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6243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reveals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4632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 buyer SSN or wire details? The agent stops, asks for human approval, and only then proceeds.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412480" y="23317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32520" y="2651760"/>
            <a:ext cx="2011680" cy="310896"/>
          </a:xfrm>
          <a:prstGeom prst="roundRect">
            <a:avLst>
              <a:gd name="adj" fmla="val 52941"/>
            </a:avLst>
          </a:prstGeom>
          <a:solidFill>
            <a:srgbClr val="FEF2F2"/>
          </a:solidFill>
          <a:ln/>
        </p:spPr>
      </p:sp>
      <p:sp>
        <p:nvSpPr>
          <p:cNvPr id="18" name="Text 14"/>
          <p:cNvSpPr/>
          <p:nvPr/>
        </p:nvSpPr>
        <p:spPr>
          <a:xfrm>
            <a:off x="8732520" y="2651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62432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325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Hard-deny rules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732520" y="38404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escrow. Cross-tenant queries. Prompt-injection from a malicious PDF. The agent never even tries.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FEDE8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79008"/>
            <a:ext cx="411480" cy="4114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17320" y="5852160"/>
            <a:ext cx="960120" cy="274320"/>
          </a:xfrm>
          <a:prstGeom prst="roundRect">
            <a:avLst>
              <a:gd name="adj" fmla="val 60000"/>
            </a:avLst>
          </a:prstGeom>
          <a:solidFill>
            <a:srgbClr val="F0FDF4"/>
          </a:solidFill>
          <a:ln/>
        </p:spPr>
      </p:sp>
      <p:sp>
        <p:nvSpPr>
          <p:cNvPr id="25" name="Text 19"/>
          <p:cNvSpPr/>
          <p:nvPr/>
        </p:nvSpPr>
        <p:spPr>
          <a:xfrm>
            <a:off x="1417320" y="5852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2514600" y="562356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rcpt_3f9a..  user=agent  skill=read_deal_summary  ts=2026-04-28T14:02Z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deals closed. Fewer 11pm panics. A defensible record.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008" y="25786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9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hrs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transaction on contract review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1945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26948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FED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208" y="25786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84632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agent actions logged to an append-only trail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12480" y="21945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15568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25786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732520" y="3566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for hallucinated dates, leaked PII, or moved escrow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6360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B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274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572000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ship faster.  </a:t>
            </a:r>
            <a:pPr indent="0" marL="0">
              <a:buNone/>
            </a:pPr>
            <a:r>
              <a:rPr lang="en-US" sz="14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contract, get a deal record in under a minute. Timeline, tasks, parties, mortgage, escrow — done.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868680" y="52029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9437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5138928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ship safer.  </a:t>
            </a:r>
            <a:pPr indent="0" marL="0">
              <a:buNone/>
            </a:pPr>
            <a:r>
              <a:rPr lang="en-US" sz="14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will not unmask PII, modify escrow, or follow instructions buried in a PDF. Period.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868680" y="57698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FEDE8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861304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63040" y="5705856"/>
            <a:ext cx="10104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ship defensibly.  </a:t>
            </a:r>
            <a:pPr indent="0" marL="0">
              <a:buNone/>
            </a:pPr>
            <a:r>
              <a:rPr lang="en-US" sz="140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trail. Every action — yours, the agent's, and every denied attempt — is right there.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run your real deals through it.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a working pilot — designed to fit around your closings, not interrupt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971800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F0FDF4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D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6012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3 active PA-ASR contracts. We'll run them through Estora Guard and walk you through what it found, side-by-side with what you already caught.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26280" y="26974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971800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D48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D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84632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provision your workspace, your team's roles, and your firm's policy profile. You bring 1 transaction coordinator. We handle the rest.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12480" y="269748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EDAD2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97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607040" y="2971800"/>
            <a:ext cx="1097280" cy="292608"/>
          </a:xfrm>
          <a:prstGeom prst="roundRect">
            <a:avLst>
              <a:gd name="adj" fmla="val 56250"/>
            </a:avLst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32520" y="32918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DD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8732520" y="4114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32520" y="45720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your full book. Weekly review: deals saved, hours saved, denied attempts. You get the audit pack your broker has been asking for.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C9973A"/>
          </a:solidFill>
          <a:ln/>
          <a:effectLst>
            <a:outerShdw sx="100000" sy="100000" kx="0" ky="0" algn="bl" rotWithShape="0" blurRad="1778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try it?   Email  hello@estora.ai   ·   We'll have a sandbox in your inbox by tomorrow.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Estora Guard — Pitch</dc:title>
  <dc:subject>PptxGenJS Presentation</dc:subject>
  <dc:creator>Estora</dc:creator>
  <cp:lastModifiedBy>Estora</cp:lastModifiedBy>
  <cp:revision>1</cp:revision>
  <dcterms:created xsi:type="dcterms:W3CDTF">2026-04-28T06:41:40Z</dcterms:created>
  <dcterms:modified xsi:type="dcterms:W3CDTF">2026-04-28T06:41:40Z</dcterms:modified>
</cp:coreProperties>
</file>